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yeda\OneDrive\Desktop\NED%20CIS%202nd%20year\DecodeLabs%20Internship\Task_1%20DecodeLabs%20Internship\Cleaned_DataSet_For_Data_Analytics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[Cleaned_DataSet_For_Data_Analytics.xlsx]Sheet2!PivotTable2</c:name>
    <c:fmtId val="23"/>
  </c:pivotSource>
  <c:chart>
    <c:autoTitleDeleted val="1"/>
    <c:pivotFmts>
      <c:pivotFmt>
        <c:idx val="0"/>
        <c:spPr>
          <a:solidFill>
            <a:srgbClr val="A9A9A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50"/>
          </a:solidFill>
          <a:ln>
            <a:noFill/>
          </a:ln>
          <a:effectLst/>
        </c:spPr>
      </c:pivotFmt>
      <c:pivotFmt>
        <c:idx val="2"/>
        <c:spPr>
          <a:solidFill>
            <a:srgbClr val="A9A9A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B050"/>
          </a:solidFill>
          <a:ln>
            <a:noFill/>
          </a:ln>
          <a:effectLst/>
        </c:spPr>
      </c:pivotFmt>
      <c:pivotFmt>
        <c:idx val="4"/>
        <c:spPr>
          <a:solidFill>
            <a:srgbClr val="A9A9A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B050"/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9A9A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60-4FC6-892C-A90CA063F25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A9284F-DEFE-4A91-A26D-3C86BC37D9BC}" type="VALUE">
                      <a:rPr lang="en-US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E60-4FC6-892C-A90CA063F2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Sheet2!$A$4:$A$11</c:f>
              <c:strCache>
                <c:ptCount val="7"/>
                <c:pt idx="0">
                  <c:v>Chair</c:v>
                </c:pt>
                <c:pt idx="1">
                  <c:v>Printer</c:v>
                </c:pt>
                <c:pt idx="2">
                  <c:v>Laptop</c:v>
                </c:pt>
                <c:pt idx="3">
                  <c:v>Tablet</c:v>
                </c:pt>
                <c:pt idx="4">
                  <c:v>Monitor</c:v>
                </c:pt>
                <c:pt idx="5">
                  <c:v>Desk</c:v>
                </c:pt>
                <c:pt idx="6">
                  <c:v>Phone</c:v>
                </c:pt>
              </c:strCache>
            </c:strRef>
          </c:cat>
          <c:val>
            <c:numRef>
              <c:f>Sheet2!$B$4:$B$11</c:f>
              <c:numCache>
                <c:formatCode>General</c:formatCode>
                <c:ptCount val="7"/>
                <c:pt idx="0">
                  <c:v>195620.11000000002</c:v>
                </c:pt>
                <c:pt idx="1">
                  <c:v>195612.60999999996</c:v>
                </c:pt>
                <c:pt idx="2">
                  <c:v>192126.55999999994</c:v>
                </c:pt>
                <c:pt idx="3">
                  <c:v>186568.95000000007</c:v>
                </c:pt>
                <c:pt idx="4">
                  <c:v>175651.40999999997</c:v>
                </c:pt>
                <c:pt idx="5">
                  <c:v>167459.93</c:v>
                </c:pt>
                <c:pt idx="6">
                  <c:v>151722.39000000001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60-4FC6-892C-A90CA063F2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56990815"/>
        <c:axId val="1680907823"/>
      </c:barChart>
      <c:catAx>
        <c:axId val="17569908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07823"/>
        <c:crosses val="autoZero"/>
        <c:auto val="1"/>
        <c:lblAlgn val="ctr"/>
        <c:lblOffset val="100"/>
        <c:noMultiLvlLbl val="0"/>
      </c:catAx>
      <c:valAx>
        <c:axId val="1680907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6990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0.68116</cdr:x>
      <cdr:y>0.01605</cdr:y>
    </cdr:from>
    <cdr:to>
      <cdr:x>1</cdr:x>
      <cdr:y>0.1846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47D3279D-41FB-8698-AC3D-4448EE4F548F}"/>
            </a:ext>
          </a:extLst>
        </cdr:cNvPr>
        <cdr:cNvSpPr txBox="1"/>
      </cdr:nvSpPr>
      <cdr:spPr>
        <a:xfrm xmlns:a="http://schemas.openxmlformats.org/drawingml/2006/main">
          <a:off x="7162800" y="69850"/>
          <a:ext cx="3352800" cy="7334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b="1" dirty="0"/>
            <a:t>Next Steps: </a:t>
          </a:r>
        </a:p>
        <a:p xmlns:a="http://schemas.openxmlformats.org/drawingml/2006/main">
          <a:r>
            <a:rPr lang="en-US" dirty="0"/>
            <a:t>Allocate 20% more marketing budget to Chair and </a:t>
          </a:r>
        </a:p>
        <a:p xmlns:a="http://schemas.openxmlformats.org/drawingml/2006/main">
          <a:r>
            <a:rPr lang="en-US" dirty="0"/>
            <a:t>Printer campaigns for Q4 to maximize top-line revenue.</a:t>
          </a:r>
          <a:endParaRPr lang="en-US" sz="1100" kern="12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3F4CC-ADA8-92FB-AF01-CC011AFA1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2ED09-09F6-0670-CBC0-845F8BCCA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E9774-9D84-E57D-93FD-66165035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9CE83-944F-F079-CE56-657671E2C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A5C2B-6C0B-A508-3938-A235CA88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40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14A1-103C-C40D-45FB-2D5DE38F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83D9F-D7D6-8F03-5AEC-DA2CE09F5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5648E-4757-F844-FC18-6993287A7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88589-CD67-2108-49E8-1E67029EB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E9E34-3025-C320-3DFE-0B21EB56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23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6DBD-EBE6-8E52-BBDD-766A23D2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815A5-A244-EA8C-BB2A-6F096CDA6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3A093-74CB-5A13-6433-EBDA4DAB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EDD23-4F62-5AD1-BB76-53BDB887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D162B-D122-2FF3-C069-85B4DD095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F796-A74A-12B3-A580-0F380B8C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2F63D-A0B7-F37A-C596-F9A764C8A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7C7B4-90F0-69FF-CC14-5E443956A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9438-FED7-8E54-4A60-65598ED1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6D18B-4AEA-F8B8-8F20-7212595D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F3CB6-A00F-256B-78A1-6A90879C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8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9185-6362-8042-2C2C-5610D9B2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D59A3-B0B1-0B44-B747-320E8E8DE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3A715-B482-B2E7-89ED-C081AE518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E9C72-ED2F-A661-BBE3-2BCDC8FC5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A59EA-2725-76FB-A7C7-B4861A10B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B3D2A-37C1-A76B-C8A0-90B12EA1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B2834-1137-9C25-A9DA-3B68644E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45CEB-C712-E916-E692-BC46704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0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874C-6AD3-6A1B-3045-CEF23A69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12053-2805-91E4-8202-B14392CD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E5B78-1530-72D4-0295-BB199A5B5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565ED-4229-3062-9087-93A5193DF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1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EB008-5101-7BAE-52AE-7FC64769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684F6-5B5D-C24E-8424-2FE373F4E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E9E39-61C8-D1BB-113E-A3ED9C8D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B1BD-C835-FFB7-694E-724CD7E1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1D2-4373-5861-0706-A5E3BDA23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5D31A-11F6-6BFB-1CF9-A2210C8E4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1379E-4C10-90D3-7819-64F894BC7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97D93-1585-69DC-66B0-80153E62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51AE4-506D-B682-6635-63BE6C54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8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B2BB-1863-0F17-B0A5-D6BF4A22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D3886C-29B5-77C0-B1AE-9C510972C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C8B5E-0866-E6A0-43F6-F276496EE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9E0B5-F90A-FC78-E37F-621903332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DC237-1B34-4D71-7822-1E8A0623D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D3B77-9548-C29E-C1CA-126D6C1B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78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31AF-015E-5464-DA8F-E21B1D1D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EBAE9-EE4E-9541-B6E2-3CC966909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C4296-04D9-8D28-3BCA-09EF41C5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D81F8-DB1A-B0CC-1552-5E1D8C3B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571CA-81BB-C3CD-F607-87D4BE40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3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64E5F0-C36F-3438-F548-A0CC239AD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97F4C-BE7F-F4D3-9911-FC7923B09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54244-83D5-68BE-3F2E-F387FBCF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F86F-3DC4-BE2C-09F2-19CC050A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6B4D8-A9EB-8CF1-B7EE-126B036A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ACC47-46B9-0EFD-5F4F-508930D31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BF45C-D797-8B0F-8F87-CC2006E77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98FBA-7AB5-5747-6DCE-A61415A47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E88D5-D4E5-437A-AF12-4689A2A400A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A8A86-FD9B-132B-B8DB-5D807B544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04C34-A1ED-6845-A4B0-90AFD5BC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79D56-E8FE-4414-A9D5-DA181A21F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8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0191-29F0-E069-0932-ED5CF2D50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Helvetica" panose="020B0604020202020204" pitchFamily="34" charset="0"/>
                <a:cs typeface="Helvetica" panose="020B0604020202020204" pitchFamily="34" charset="0"/>
              </a:rPr>
              <a:t>Data Visualization Portfolio: Project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41AFF-16AB-4182-EEA5-CB92B1C5B1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Executive Summary: E-Commerce Product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CCCA9-F93F-BDF9-82C7-644BE99553DF}"/>
              </a:ext>
            </a:extLst>
          </p:cNvPr>
          <p:cNvSpPr txBox="1"/>
          <p:nvPr/>
        </p:nvSpPr>
        <p:spPr>
          <a:xfrm>
            <a:off x="8540252" y="5657671"/>
            <a:ext cx="33791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by: Syed Arshman Ali</a:t>
            </a:r>
          </a:p>
          <a:p>
            <a:r>
              <a:rPr lang="en-US" dirty="0"/>
              <a:t>Data Analytics Intern, DecodeLabs</a:t>
            </a:r>
          </a:p>
          <a:p>
            <a:r>
              <a:rPr lang="en-US" dirty="0"/>
              <a:t>August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7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DE8FA-2282-F0A3-F606-884E68DD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Chairs drove the highest total revenue, closely followed by Printers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67E07B9-B776-6952-0F65-93FA5C07EE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65812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7065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Office Theme</vt:lpstr>
      <vt:lpstr>Data Visualization Portfolio: Project 4</vt:lpstr>
      <vt:lpstr>Chairs drove the highest total revenue, closely followed by Printers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Arshman</dc:creator>
  <cp:lastModifiedBy>Syed Arshman</cp:lastModifiedBy>
  <cp:revision>1</cp:revision>
  <dcterms:created xsi:type="dcterms:W3CDTF">2026-08-05T16:35:00Z</dcterms:created>
  <dcterms:modified xsi:type="dcterms:W3CDTF">2026-08-05T16:52:16Z</dcterms:modified>
</cp:coreProperties>
</file>